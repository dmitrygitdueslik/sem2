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7" r:id="rId3"/>
    <p:sldId id="301" r:id="rId4"/>
    <p:sldId id="295" r:id="rId5"/>
    <p:sldId id="279" r:id="rId6"/>
    <p:sldId id="281" r:id="rId7"/>
    <p:sldId id="282" r:id="rId8"/>
    <p:sldId id="283" r:id="rId9"/>
    <p:sldId id="305" r:id="rId10"/>
    <p:sldId id="284" r:id="rId11"/>
    <p:sldId id="285" r:id="rId12"/>
    <p:sldId id="286" r:id="rId13"/>
    <p:sldId id="304" r:id="rId14"/>
    <p:sldId id="287" r:id="rId15"/>
    <p:sldId id="288" r:id="rId16"/>
    <p:sldId id="289" r:id="rId17"/>
    <p:sldId id="306" r:id="rId18"/>
    <p:sldId id="290" r:id="rId19"/>
    <p:sldId id="303" r:id="rId20"/>
    <p:sldId id="292" r:id="rId21"/>
    <p:sldId id="293" r:id="rId22"/>
    <p:sldId id="302" r:id="rId23"/>
    <p:sldId id="299" r:id="rId24"/>
    <p:sldId id="300" r:id="rId25"/>
    <p:sldId id="294" r:id="rId26"/>
    <p:sldId id="291" r:id="rId27"/>
    <p:sldId id="278" r:id="rId28"/>
    <p:sldId id="29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0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52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9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50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42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21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36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65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10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78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94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46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B33E4-9051-47C5-98FC-12BF5F7DC6E5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58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C4F56-1994-4C9B-90AA-DF8C77FD6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10235"/>
            <a:ext cx="7772400" cy="1999728"/>
          </a:xfrm>
        </p:spPr>
        <p:txBody>
          <a:bodyPr>
            <a:normAutofit/>
          </a:bodyPr>
          <a:lstStyle/>
          <a:p>
            <a:r>
              <a:rPr lang="ru-RU" dirty="0"/>
              <a:t>Алгоритмы и структуры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AB0066-8A02-4967-B6EF-A247298CA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484932"/>
          </a:xfrm>
        </p:spPr>
        <p:txBody>
          <a:bodyPr/>
          <a:lstStyle/>
          <a:p>
            <a:r>
              <a:rPr lang="ru-RU" dirty="0"/>
              <a:t>Лекция </a:t>
            </a:r>
            <a:r>
              <a:rPr lang="en-US" dirty="0"/>
              <a:t>3</a:t>
            </a:r>
            <a:r>
              <a:rPr lang="ru-RU" dirty="0"/>
              <a:t>. Алгоритмы сортировок</a:t>
            </a:r>
          </a:p>
        </p:txBody>
      </p:sp>
    </p:spTree>
    <p:extLst>
      <p:ext uri="{BB962C8B-B14F-4D97-AF65-F5344CB8AC3E}">
        <p14:creationId xmlns:p14="http://schemas.microsoft.com/office/powerpoint/2010/main" val="213744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984FAC9-04B8-4C64-987E-03F396EBFF00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Толковый словарь исходных терминов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D362DF2-069E-4066-B8EF-1A25D85E30C5}"/>
              </a:ext>
            </a:extLst>
          </p:cNvPr>
          <p:cNvSpPr/>
          <p:nvPr/>
        </p:nvSpPr>
        <p:spPr>
          <a:xfrm>
            <a:off x="679450" y="992485"/>
            <a:ext cx="76898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rgbClr val="B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Сортировка</a:t>
            </a:r>
            <a:r>
              <a:rPr lang="ru-RU" b="1" i="1" dirty="0">
                <a:solidFill>
                  <a:srgbClr val="BF674F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ru-RU" b="1" i="1" dirty="0">
                <a:solidFill>
                  <a:srgbClr val="B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ru-RU" dirty="0">
                <a:latin typeface="Segoe UI" panose="020B0502040204020203" pitchFamily="34" charset="0"/>
              </a:rPr>
              <a:t>это упорядочивание набора однотипных данных по воз­растанию или убыванию.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D3762D3-149C-4CD1-A092-7DC8B8953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676" y="2064516"/>
            <a:ext cx="6776647" cy="435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02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06B52C-4F03-46A9-B84E-69BD08C49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63" y="1571625"/>
            <a:ext cx="707707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3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984FAC9-04B8-4C64-987E-03F396EBFF00}"/>
              </a:ext>
            </a:extLst>
          </p:cNvPr>
          <p:cNvSpPr/>
          <p:nvPr/>
        </p:nvSpPr>
        <p:spPr>
          <a:xfrm>
            <a:off x="227124" y="197453"/>
            <a:ext cx="5796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Толковый словарь исходных терминов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D362DF2-069E-4066-B8EF-1A25D85E30C5}"/>
              </a:ext>
            </a:extLst>
          </p:cNvPr>
          <p:cNvSpPr/>
          <p:nvPr/>
        </p:nvSpPr>
        <p:spPr>
          <a:xfrm>
            <a:off x="679450" y="992485"/>
            <a:ext cx="76898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rgbClr val="B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Сортировка</a:t>
            </a:r>
            <a:r>
              <a:rPr lang="ru-RU" b="1" i="1" dirty="0">
                <a:solidFill>
                  <a:srgbClr val="BF674F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ru-RU" b="1" i="1" dirty="0">
                <a:solidFill>
                  <a:srgbClr val="B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ru-RU" dirty="0">
                <a:latin typeface="Segoe UI" panose="020B0502040204020203" pitchFamily="34" charset="0"/>
              </a:rPr>
              <a:t>это упорядочивание набора однотипных данных по воз­растанию или убыванию.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D187E2-19AF-4C85-B3DC-29C7579AC552}"/>
              </a:ext>
            </a:extLst>
          </p:cNvPr>
          <p:cNvSpPr/>
          <p:nvPr/>
        </p:nvSpPr>
        <p:spPr>
          <a:xfrm>
            <a:off x="679450" y="1823755"/>
            <a:ext cx="76898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rgbClr val="B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Массив</a:t>
            </a:r>
            <a:r>
              <a:rPr lang="ru-RU" b="1" i="1" dirty="0">
                <a:solidFill>
                  <a:srgbClr val="BF674F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ru-RU" b="1" i="1" dirty="0">
                <a:solidFill>
                  <a:srgbClr val="B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</a:t>
            </a:r>
            <a:r>
              <a:rPr lang="ru-RU" dirty="0">
                <a:latin typeface="Segoe UI" panose="020B0502040204020203" pitchFamily="34" charset="0"/>
              </a:rPr>
              <a:t>это именованный набор элементов одного типа, расположенных в памяти подряд, доступ к которым осуществляется по индексу.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D024693-E273-4D38-9ABF-9DF941C559FB}"/>
              </a:ext>
            </a:extLst>
          </p:cNvPr>
          <p:cNvSpPr/>
          <p:nvPr/>
        </p:nvSpPr>
        <p:spPr>
          <a:xfrm>
            <a:off x="1145982" y="3036184"/>
            <a:ext cx="2663686" cy="947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одинакового типа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299E015-0142-47D0-AC13-B570008C0ACA}"/>
              </a:ext>
            </a:extLst>
          </p:cNvPr>
          <p:cNvSpPr/>
          <p:nvPr/>
        </p:nvSpPr>
        <p:spPr>
          <a:xfrm>
            <a:off x="4359931" y="3058779"/>
            <a:ext cx="2663686" cy="911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расположенных в памяти подряд (друг за другом)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AB95777-AFC1-4A8F-9924-687360F630D6}"/>
              </a:ext>
            </a:extLst>
          </p:cNvPr>
          <p:cNvSpPr/>
          <p:nvPr/>
        </p:nvSpPr>
        <p:spPr>
          <a:xfrm>
            <a:off x="1145982" y="4158232"/>
            <a:ext cx="2663686" cy="123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обращение происходит с применением общего имени 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03BB4C-AE49-4BC7-9696-ED3DAA2E4900}"/>
              </a:ext>
            </a:extLst>
          </p:cNvPr>
          <p:cNvSpPr/>
          <p:nvPr/>
        </p:nvSpPr>
        <p:spPr>
          <a:xfrm>
            <a:off x="4359931" y="4159172"/>
            <a:ext cx="2663686" cy="1230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обращение к конкретному элементу происходит по индексу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4EBB0AB-CA1A-4AA8-AA31-314601C55527}"/>
              </a:ext>
            </a:extLst>
          </p:cNvPr>
          <p:cNvSpPr/>
          <p:nvPr/>
        </p:nvSpPr>
        <p:spPr>
          <a:xfrm>
            <a:off x="2604825" y="5515442"/>
            <a:ext cx="3161968" cy="1253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Массив является структурой с произвольным доступом (в отличии от списка)</a:t>
            </a:r>
          </a:p>
        </p:txBody>
      </p:sp>
    </p:spTree>
    <p:extLst>
      <p:ext uri="{BB962C8B-B14F-4D97-AF65-F5344CB8AC3E}">
        <p14:creationId xmlns:p14="http://schemas.microsoft.com/office/powerpoint/2010/main" val="220110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71424C-EBA5-424E-BAA8-805BFFA6D53D}"/>
              </a:ext>
            </a:extLst>
          </p:cNvPr>
          <p:cNvSpPr/>
          <p:nvPr/>
        </p:nvSpPr>
        <p:spPr>
          <a:xfrm>
            <a:off x="240348" y="164871"/>
            <a:ext cx="4910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  <a:ea typeface="Segoe UI" panose="020B0502040204020203" pitchFamily="34" charset="0"/>
              </a:rPr>
              <a:t>Классификация алгоритмов сортировок</a:t>
            </a:r>
            <a:endParaRPr lang="ru-RU" b="1" i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9B8608-5E2B-4735-A466-F00DB8ECFE0D}"/>
              </a:ext>
            </a:extLst>
          </p:cNvPr>
          <p:cNvSpPr/>
          <p:nvPr/>
        </p:nvSpPr>
        <p:spPr>
          <a:xfrm>
            <a:off x="2488560" y="1065738"/>
            <a:ext cx="3913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Категории алгоритмов сортировки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5BF15EF-58F8-4C23-9A39-7B19AF550277}"/>
              </a:ext>
            </a:extLst>
          </p:cNvPr>
          <p:cNvSpPr/>
          <p:nvPr/>
        </p:nvSpPr>
        <p:spPr>
          <a:xfrm>
            <a:off x="240348" y="1798935"/>
            <a:ext cx="40416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алгоритмы, сортирующие объекты с </a:t>
            </a:r>
            <a:r>
              <a:rPr lang="ru-RU" b="1" i="1" dirty="0">
                <a:solidFill>
                  <a:srgbClr val="B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произвольным</a:t>
            </a:r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 доступом (например, массивы или дис­</a:t>
            </a:r>
            <a:r>
              <a:rPr lang="ru-RU" dirty="0">
                <a:solidFill>
                  <a:srgbClr val="4E4E4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ковые </a:t>
            </a:r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файлы произвольного доступа)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5ADEC2-E1FE-4757-8A5C-452B5AECA12D}"/>
              </a:ext>
            </a:extLst>
          </p:cNvPr>
          <p:cNvSpPr/>
          <p:nvPr/>
        </p:nvSpPr>
        <p:spPr>
          <a:xfrm>
            <a:off x="4861972" y="1798935"/>
            <a:ext cx="36787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алгоритмы, сортирующие </a:t>
            </a:r>
            <a:r>
              <a:rPr lang="ru-RU" b="1" i="1" dirty="0">
                <a:solidFill>
                  <a:srgbClr val="B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последова­тельные </a:t>
            </a:r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объекты (например, файлы на дисках и лентах или связанные списки )</a:t>
            </a:r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B69A0E0-F7B8-4215-9DC2-DBB0E060B297}"/>
              </a:ext>
            </a:extLst>
          </p:cNvPr>
          <p:cNvCxnSpPr>
            <a:cxnSpLocks/>
          </p:cNvCxnSpPr>
          <p:nvPr/>
        </p:nvCxnSpPr>
        <p:spPr>
          <a:xfrm flipH="1">
            <a:off x="2898978" y="1435070"/>
            <a:ext cx="688772" cy="4445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5C264AC6-8897-47A3-A9B0-B18C05D58963}"/>
              </a:ext>
            </a:extLst>
          </p:cNvPr>
          <p:cNvCxnSpPr>
            <a:cxnSpLocks/>
          </p:cNvCxnSpPr>
          <p:nvPr/>
        </p:nvCxnSpPr>
        <p:spPr>
          <a:xfrm>
            <a:off x="4890548" y="1382653"/>
            <a:ext cx="768350" cy="4597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33B9E22-11A7-4C75-AB96-A0C0D6B3E6A7}"/>
              </a:ext>
            </a:extLst>
          </p:cNvPr>
          <p:cNvSpPr/>
          <p:nvPr/>
        </p:nvSpPr>
        <p:spPr>
          <a:xfrm>
            <a:off x="2582379" y="3797886"/>
            <a:ext cx="3819432" cy="3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14300" algn="just">
              <a:lnSpc>
                <a:spcPct val="87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Методы сортировки массивов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50416D-63D7-4F61-86E9-68DA1A80B7FA}"/>
              </a:ext>
            </a:extLst>
          </p:cNvPr>
          <p:cNvSpPr/>
          <p:nvPr/>
        </p:nvSpPr>
        <p:spPr>
          <a:xfrm>
            <a:off x="2074230" y="4575682"/>
            <a:ext cx="918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Обмен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E4B0DEF-2F47-42A5-8D38-02EBBDF1CE10}"/>
              </a:ext>
            </a:extLst>
          </p:cNvPr>
          <p:cNvSpPr/>
          <p:nvPr/>
        </p:nvSpPr>
        <p:spPr>
          <a:xfrm>
            <a:off x="5875064" y="4662438"/>
            <a:ext cx="1053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Вставка</a:t>
            </a: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EEF0300-E816-4641-96B1-71A498CEC5F1}"/>
              </a:ext>
            </a:extLst>
          </p:cNvPr>
          <p:cNvSpPr/>
          <p:nvPr/>
        </p:nvSpPr>
        <p:spPr>
          <a:xfrm>
            <a:off x="3320764" y="5099248"/>
            <a:ext cx="2090637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87000"/>
              </a:lnSpc>
              <a:spcAft>
                <a:spcPts val="0"/>
              </a:spcAft>
              <a:buClr>
                <a:srgbClr val="5F5F5F"/>
              </a:buClr>
              <a:buSzPts val="400"/>
              <a:tabLst>
                <a:tab pos="218440" algn="l"/>
              </a:tabLst>
            </a:pPr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Выбор (выборка)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56C754C9-64BC-4D27-9A55-2D363C7AE978}"/>
              </a:ext>
            </a:extLst>
          </p:cNvPr>
          <p:cNvCxnSpPr>
            <a:cxnSpLocks/>
          </p:cNvCxnSpPr>
          <p:nvPr/>
        </p:nvCxnSpPr>
        <p:spPr>
          <a:xfrm flipH="1">
            <a:off x="2854528" y="4131182"/>
            <a:ext cx="688772" cy="4445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9E3AC34-A1CE-4BBD-AFD4-00843EB0F2A5}"/>
              </a:ext>
            </a:extLst>
          </p:cNvPr>
          <p:cNvCxnSpPr>
            <a:cxnSpLocks/>
          </p:cNvCxnSpPr>
          <p:nvPr/>
        </p:nvCxnSpPr>
        <p:spPr>
          <a:xfrm>
            <a:off x="5411401" y="4166925"/>
            <a:ext cx="768350" cy="4597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7A653C7E-032C-498B-AB51-0966CBA8FF9E}"/>
              </a:ext>
            </a:extLst>
          </p:cNvPr>
          <p:cNvCxnSpPr>
            <a:cxnSpLocks/>
          </p:cNvCxnSpPr>
          <p:nvPr/>
        </p:nvCxnSpPr>
        <p:spPr>
          <a:xfrm>
            <a:off x="4302281" y="4113804"/>
            <a:ext cx="0" cy="9179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51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39FE378-A3E9-437D-BB97-FAF4BE3F8FC5}"/>
              </a:ext>
            </a:extLst>
          </p:cNvPr>
          <p:cNvSpPr/>
          <p:nvPr/>
        </p:nvSpPr>
        <p:spPr>
          <a:xfrm>
            <a:off x="240348" y="164871"/>
            <a:ext cx="4100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Оценка алгоритмов сортировки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0B7056-2C2D-4A11-BF5E-014B7ADECE93}"/>
              </a:ext>
            </a:extLst>
          </p:cNvPr>
          <p:cNvSpPr/>
          <p:nvPr/>
        </p:nvSpPr>
        <p:spPr>
          <a:xfrm>
            <a:off x="412750" y="1831705"/>
            <a:ext cx="8229600" cy="2501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14300" algn="just">
              <a:lnSpc>
                <a:spcPct val="87000"/>
              </a:lnSpc>
              <a:spcAft>
                <a:spcPts val="0"/>
              </a:spcAft>
            </a:pPr>
            <a:r>
              <a:rPr lang="ru-RU" dirty="0">
                <a:solidFill>
                  <a:srgbClr val="32323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Насколько быстро данный алгоритм сортирует информацию в среднем?</a:t>
            </a:r>
          </a:p>
          <a:p>
            <a:pPr indent="114300" algn="just">
              <a:lnSpc>
                <a:spcPct val="87000"/>
              </a:lnSpc>
              <a:spcAft>
                <a:spcPts val="0"/>
              </a:spcAft>
            </a:pPr>
            <a:endParaRPr lang="en-US" dirty="0">
              <a:solidFill>
                <a:srgbClr val="323232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indent="114300" algn="just">
              <a:lnSpc>
                <a:spcPct val="87000"/>
              </a:lnSpc>
              <a:spcAft>
                <a:spcPts val="0"/>
              </a:spcAft>
            </a:pPr>
            <a:endParaRPr lang="ru-RU" dirty="0">
              <a:solidFill>
                <a:srgbClr val="323232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indent="114300" algn="just">
              <a:lnSpc>
                <a:spcPct val="87000"/>
              </a:lnSpc>
              <a:spcAft>
                <a:spcPts val="0"/>
              </a:spcAft>
            </a:pPr>
            <a:r>
              <a:rPr lang="ru-RU" dirty="0">
                <a:solidFill>
                  <a:srgbClr val="32323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Насколько быстро он работает в лучшем и худшем случаях?</a:t>
            </a:r>
          </a:p>
          <a:p>
            <a:pPr indent="114300" algn="just">
              <a:lnSpc>
                <a:spcPct val="87000"/>
              </a:lnSpc>
              <a:spcAft>
                <a:spcPts val="0"/>
              </a:spcAft>
            </a:pPr>
            <a:endParaRPr lang="en-US" dirty="0">
              <a:solidFill>
                <a:srgbClr val="323232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indent="114300" algn="just">
              <a:lnSpc>
                <a:spcPct val="87000"/>
              </a:lnSpc>
              <a:spcAft>
                <a:spcPts val="0"/>
              </a:spcAft>
            </a:pPr>
            <a:endParaRPr lang="ru-RU" dirty="0">
              <a:solidFill>
                <a:srgbClr val="323232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indent="114300" algn="just">
              <a:lnSpc>
                <a:spcPct val="87000"/>
              </a:lnSpc>
              <a:spcAft>
                <a:spcPts val="0"/>
              </a:spcAft>
            </a:pPr>
            <a:r>
              <a:rPr lang="ru-RU" dirty="0">
                <a:solidFill>
                  <a:srgbClr val="32323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Естественно или неестественно он себя ведет?</a:t>
            </a:r>
          </a:p>
          <a:p>
            <a:pPr indent="114300" algn="just">
              <a:lnSpc>
                <a:spcPct val="87000"/>
              </a:lnSpc>
              <a:spcAft>
                <a:spcPts val="0"/>
              </a:spcAft>
            </a:pPr>
            <a:endParaRPr lang="en-US" dirty="0">
              <a:solidFill>
                <a:srgbClr val="323232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indent="114300" algn="just">
              <a:lnSpc>
                <a:spcPct val="87000"/>
              </a:lnSpc>
              <a:spcAft>
                <a:spcPts val="0"/>
              </a:spcAft>
            </a:pPr>
            <a:endParaRPr lang="ru-RU" dirty="0">
              <a:solidFill>
                <a:srgbClr val="323232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indent="114300" algn="just">
              <a:lnSpc>
                <a:spcPct val="87000"/>
              </a:lnSpc>
              <a:spcAft>
                <a:spcPts val="0"/>
              </a:spcAft>
            </a:pPr>
            <a:r>
              <a:rPr lang="ru-RU" dirty="0">
                <a:solidFill>
                  <a:srgbClr val="32323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Переставляет ли он элементы с одинаковыми ключами?</a:t>
            </a:r>
            <a:endParaRPr lang="ru-RU" dirty="0">
              <a:solidFill>
                <a:srgbClr val="323232"/>
              </a:solidFill>
              <a:effectLst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AD53CA2-60D7-4E6E-A8F4-BF40C9FF48F5}"/>
              </a:ext>
            </a:extLst>
          </p:cNvPr>
          <p:cNvSpPr/>
          <p:nvPr/>
        </p:nvSpPr>
        <p:spPr>
          <a:xfrm>
            <a:off x="1143000" y="5026295"/>
            <a:ext cx="7651750" cy="132504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127000" algn="just">
              <a:lnSpc>
                <a:spcPct val="89000"/>
              </a:lnSpc>
              <a:spcAft>
                <a:spcPts val="300"/>
              </a:spcAft>
            </a:pPr>
            <a:r>
              <a:rPr lang="ru-RU" b="1" i="1" dirty="0">
                <a:solidFill>
                  <a:srgbClr val="B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Ключ</a:t>
            </a:r>
            <a:r>
              <a:rPr lang="ru-RU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</a:rPr>
              <a:t> — это часть информации, определяющая порядок эле­ментов. Таким образом, ключ участвует в сравнениях, но при обмене элементов происходит перемещение всей структуры данных. Для простоты в нижеследующих примерах будет производиться сортировка массивов, в которых ключ и данные совпадают.</a:t>
            </a:r>
          </a:p>
        </p:txBody>
      </p:sp>
    </p:spTree>
    <p:extLst>
      <p:ext uri="{BB962C8B-B14F-4D97-AF65-F5344CB8AC3E}">
        <p14:creationId xmlns:p14="http://schemas.microsoft.com/office/powerpoint/2010/main" val="346523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275E61-292B-42D2-A3A1-048D6D86DBA3}"/>
              </a:ext>
            </a:extLst>
          </p:cNvPr>
          <p:cNvSpPr/>
          <p:nvPr/>
        </p:nvSpPr>
        <p:spPr>
          <a:xfrm>
            <a:off x="240348" y="164871"/>
            <a:ext cx="5862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Обменная сортировка. Пузырьковая сортировка</a:t>
            </a:r>
          </a:p>
        </p:txBody>
      </p:sp>
      <p:pic>
        <p:nvPicPr>
          <p:cNvPr id="2050" name="Picture 2" descr="Сортировка пузырьком">
            <a:extLst>
              <a:ext uri="{FF2B5EF4-FFF2-40B4-BE49-F238E27FC236}">
                <a16:creationId xmlns:a16="http://schemas.microsoft.com/office/drawing/2014/main" id="{3D8C0F9A-4E3F-4DD3-A7AC-D0F817F50E2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969" y="1068388"/>
            <a:ext cx="4805362" cy="445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249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5DD34F5-8DAC-4E12-92EE-65AA2B047FCA}"/>
              </a:ext>
            </a:extLst>
          </p:cNvPr>
          <p:cNvSpPr/>
          <p:nvPr/>
        </p:nvSpPr>
        <p:spPr>
          <a:xfrm>
            <a:off x="240348" y="164871"/>
            <a:ext cx="5862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Обменная сортировка. Пузырьковая сортировка</a:t>
            </a:r>
          </a:p>
        </p:txBody>
      </p:sp>
      <p:pic>
        <p:nvPicPr>
          <p:cNvPr id="3" name="Picture 4" descr="Сортировка пузырьком">
            <a:extLst>
              <a:ext uri="{FF2B5EF4-FFF2-40B4-BE49-F238E27FC236}">
                <a16:creationId xmlns:a16="http://schemas.microsoft.com/office/drawing/2014/main" id="{763D93B1-B561-4B43-9F95-8096FE6A6C1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628650"/>
            <a:ext cx="476250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BB644D7-526F-46AF-B585-3F4A06F2A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163" y="3454696"/>
            <a:ext cx="402907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DA89B7-D6D9-48B1-85A5-68EF695BA59F}"/>
              </a:ext>
            </a:extLst>
          </p:cNvPr>
          <p:cNvSpPr/>
          <p:nvPr/>
        </p:nvSpPr>
        <p:spPr>
          <a:xfrm>
            <a:off x="217865" y="3496309"/>
            <a:ext cx="26729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n-1;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for (j = 0; j &lt; n-i-2;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      if (a[j] &gt; a[j+1]) {</a:t>
            </a:r>
          </a:p>
          <a:p>
            <a:r>
              <a:rPr lang="en-US" dirty="0"/>
              <a:t>        swap(a[j], a[j+1]);</a:t>
            </a:r>
          </a:p>
          <a:p>
            <a:r>
              <a:rPr lang="en-US" dirty="0"/>
              <a:t>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755F1BF-2F27-4517-91C6-FCC7654380D8}"/>
              </a:ext>
            </a:extLst>
          </p:cNvPr>
          <p:cNvSpPr/>
          <p:nvPr/>
        </p:nvSpPr>
        <p:spPr>
          <a:xfrm>
            <a:off x="2661286" y="4024609"/>
            <a:ext cx="22948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	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temp = a[ j ];</a:t>
            </a:r>
          </a:p>
          <a:p>
            <a:r>
              <a:rPr lang="ru-RU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	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a[ j ] = a[ j+1 ];</a:t>
            </a:r>
          </a:p>
          <a:p>
            <a:r>
              <a:rPr lang="ru-RU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	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a[ j+1 ] = temp;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30709391-ED47-46D9-921B-9EFC8C1218E3}"/>
              </a:ext>
            </a:extLst>
          </p:cNvPr>
          <p:cNvCxnSpPr>
            <a:cxnSpLocks/>
          </p:cNvCxnSpPr>
          <p:nvPr/>
        </p:nvCxnSpPr>
        <p:spPr>
          <a:xfrm>
            <a:off x="2503865" y="4486274"/>
            <a:ext cx="5749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10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5DD34F5-8DAC-4E12-92EE-65AA2B047FCA}"/>
              </a:ext>
            </a:extLst>
          </p:cNvPr>
          <p:cNvSpPr/>
          <p:nvPr/>
        </p:nvSpPr>
        <p:spPr>
          <a:xfrm>
            <a:off x="240348" y="164871"/>
            <a:ext cx="5862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Обменная сортировка. Пузырьковая сортировка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C7B8C8C-8177-4C57-9015-07E182182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10" y="1082679"/>
            <a:ext cx="6678977" cy="51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76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B67BDD-8E36-4E65-A0CB-C4A8013E9BD7}"/>
              </a:ext>
            </a:extLst>
          </p:cNvPr>
          <p:cNvSpPr/>
          <p:nvPr/>
        </p:nvSpPr>
        <p:spPr>
          <a:xfrm>
            <a:off x="240348" y="164871"/>
            <a:ext cx="9130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Обменная сортировка. </a:t>
            </a:r>
            <a:r>
              <a:rPr lang="ru-RU" b="1" i="1" dirty="0" err="1">
                <a:latin typeface="Segoe UI" panose="020B0502040204020203" pitchFamily="34" charset="0"/>
              </a:rPr>
              <a:t>Шейкерная</a:t>
            </a:r>
            <a:r>
              <a:rPr lang="ru-RU" b="1" i="1" dirty="0">
                <a:latin typeface="Segoe UI" panose="020B0502040204020203" pitchFamily="34" charset="0"/>
              </a:rPr>
              <a:t> сортировка (сортировка перемешивания)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A6BD9D9-3A7D-432A-9D6C-407E5FCD89E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756991"/>
            <a:ext cx="4963747" cy="460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86077F-446E-4B2A-A21C-6CF9DEA3C2DD}"/>
              </a:ext>
            </a:extLst>
          </p:cNvPr>
          <p:cNvSpPr/>
          <p:nvPr/>
        </p:nvSpPr>
        <p:spPr>
          <a:xfrm>
            <a:off x="240348" y="5585133"/>
            <a:ext cx="65668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 err="1">
                <a:solidFill>
                  <a:schemeClr val="accent1"/>
                </a:solidFill>
                <a:latin typeface="William Text Pro"/>
              </a:rPr>
              <a:t>Шейкерная</a:t>
            </a:r>
            <a:r>
              <a:rPr lang="ru-RU" dirty="0">
                <a:solidFill>
                  <a:srgbClr val="333333"/>
                </a:solidFill>
                <a:latin typeface="William Text Pro"/>
              </a:rPr>
              <a:t> сортировка отличается от </a:t>
            </a:r>
            <a:r>
              <a:rPr lang="ru-RU" b="1" i="1" dirty="0">
                <a:solidFill>
                  <a:schemeClr val="accent1"/>
                </a:solidFill>
                <a:latin typeface="William Text Pro"/>
              </a:rPr>
              <a:t>пузырьковой</a:t>
            </a:r>
            <a:r>
              <a:rPr lang="ru-RU" dirty="0">
                <a:solidFill>
                  <a:srgbClr val="333333"/>
                </a:solidFill>
                <a:latin typeface="William Text Pro"/>
              </a:rPr>
              <a:t> тем, что она двунаправленная: алгоритм перемещается не строго слева направо, а сначала слева направо, затем справа налево.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996992-F7E1-4221-9F8F-BF0F30890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912" y="3312636"/>
            <a:ext cx="38385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0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A7CB862-C99B-4B8C-829D-7C1365C6F4CB}"/>
              </a:ext>
            </a:extLst>
          </p:cNvPr>
          <p:cNvSpPr/>
          <p:nvPr/>
        </p:nvSpPr>
        <p:spPr>
          <a:xfrm>
            <a:off x="2882900" y="865644"/>
            <a:ext cx="548005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ShakerSort</a:t>
            </a:r>
            <a:r>
              <a:rPr lang="en-US" dirty="0"/>
              <a:t>(int *a, int n) {</a:t>
            </a:r>
          </a:p>
          <a:p>
            <a:r>
              <a:rPr lang="en-US" dirty="0"/>
              <a:t>    int left, right,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    left = 0;</a:t>
            </a:r>
          </a:p>
          <a:p>
            <a:r>
              <a:rPr lang="en-US" dirty="0"/>
              <a:t>    right= n - 1;</a:t>
            </a:r>
          </a:p>
          <a:p>
            <a:r>
              <a:rPr lang="en-US" dirty="0"/>
              <a:t>    while (left &lt;= right) {</a:t>
            </a:r>
          </a:p>
          <a:p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right; </a:t>
            </a:r>
            <a:r>
              <a:rPr lang="en-US" dirty="0" err="1"/>
              <a:t>i</a:t>
            </a:r>
            <a:r>
              <a:rPr lang="en-US" dirty="0"/>
              <a:t> &gt;= left; </a:t>
            </a:r>
            <a:r>
              <a:rPr lang="en-US" dirty="0" err="1"/>
              <a:t>i</a:t>
            </a:r>
            <a:r>
              <a:rPr lang="en-US" dirty="0"/>
              <a:t>--) {</a:t>
            </a:r>
          </a:p>
          <a:p>
            <a:r>
              <a:rPr lang="en-US" dirty="0"/>
              <a:t>            if (a[i-1] &gt; a[</a:t>
            </a:r>
            <a:r>
              <a:rPr lang="en-US" dirty="0" err="1"/>
              <a:t>i</a:t>
            </a:r>
            <a:r>
              <a:rPr lang="en-US" dirty="0"/>
              <a:t>]) {</a:t>
            </a:r>
          </a:p>
          <a:p>
            <a:r>
              <a:rPr lang="en-US" dirty="0"/>
              <a:t>                swap(a[i-1], a[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left++;</a:t>
            </a:r>
          </a:p>
          <a:p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left; </a:t>
            </a:r>
            <a:r>
              <a:rPr lang="en-US" dirty="0" err="1"/>
              <a:t>i</a:t>
            </a:r>
            <a:r>
              <a:rPr lang="en-US" dirty="0"/>
              <a:t> &lt;= right;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    if (a[i-1] &gt; a[</a:t>
            </a:r>
            <a:r>
              <a:rPr lang="en-US" dirty="0" err="1"/>
              <a:t>i</a:t>
            </a:r>
            <a:r>
              <a:rPr lang="en-US" dirty="0"/>
              <a:t>]) {</a:t>
            </a:r>
          </a:p>
          <a:p>
            <a:r>
              <a:rPr lang="en-US" dirty="0"/>
              <a:t>                swap(a[i-1], a[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right--;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9FEDC01-0485-4247-9A90-0DAF1629F0C4}"/>
              </a:ext>
            </a:extLst>
          </p:cNvPr>
          <p:cNvSpPr/>
          <p:nvPr/>
        </p:nvSpPr>
        <p:spPr>
          <a:xfrm>
            <a:off x="240348" y="164871"/>
            <a:ext cx="9130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Обменная сортировка. </a:t>
            </a:r>
            <a:r>
              <a:rPr lang="ru-RU" b="1" i="1" dirty="0" err="1">
                <a:latin typeface="Segoe UI" panose="020B0502040204020203" pitchFamily="34" charset="0"/>
              </a:rPr>
              <a:t>Шейкерная</a:t>
            </a:r>
            <a:r>
              <a:rPr lang="ru-RU" b="1" i="1" dirty="0">
                <a:latin typeface="Segoe UI" panose="020B0502040204020203" pitchFamily="34" charset="0"/>
              </a:rPr>
              <a:t> сортировка (сортировка перемешивания)</a:t>
            </a:r>
          </a:p>
        </p:txBody>
      </p:sp>
    </p:spTree>
    <p:extLst>
      <p:ext uri="{BB962C8B-B14F-4D97-AF65-F5344CB8AC3E}">
        <p14:creationId xmlns:p14="http://schemas.microsoft.com/office/powerpoint/2010/main" val="1551789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08B87C-8B0D-4686-99EB-E8B8D9725829}"/>
              </a:ext>
            </a:extLst>
          </p:cNvPr>
          <p:cNvSpPr/>
          <p:nvPr/>
        </p:nvSpPr>
        <p:spPr>
          <a:xfrm>
            <a:off x="240348" y="164871"/>
            <a:ext cx="26911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выбором</a:t>
            </a:r>
          </a:p>
          <a:p>
            <a:endParaRPr lang="ru-RU" b="1" i="1" dirty="0">
              <a:latin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615E17-B7D7-4B44-BA0E-64E921F68C4B}"/>
              </a:ext>
            </a:extLst>
          </p:cNvPr>
          <p:cNvSpPr/>
          <p:nvPr/>
        </p:nvSpPr>
        <p:spPr>
          <a:xfrm>
            <a:off x="336550" y="4762838"/>
            <a:ext cx="55181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22222"/>
                </a:solidFill>
                <a:latin typeface="Montserrat"/>
              </a:rPr>
              <a:t>В основе сортировки выбором лежит следующий подход: мы находим минимальное значение в структуре данных и помещаем его на первую позицию, затем находим второе минимальное значение и помещаем его на вторую позицию и так далее.</a:t>
            </a:r>
            <a:endParaRPr lang="ru-RU" dirty="0"/>
          </a:p>
        </p:txBody>
      </p:sp>
      <p:pic>
        <p:nvPicPr>
          <p:cNvPr id="5124" name="Picture 4" descr="Сортировка выбором">
            <a:extLst>
              <a:ext uri="{FF2B5EF4-FFF2-40B4-BE49-F238E27FC236}">
                <a16:creationId xmlns:a16="http://schemas.microsoft.com/office/drawing/2014/main" id="{0BEBF512-7518-40BE-A956-94014E36672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555625"/>
            <a:ext cx="83820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F727788F-8664-47EB-9C17-243078AA2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452" y="4556125"/>
            <a:ext cx="3838575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18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08B87C-8B0D-4686-99EB-E8B8D9725829}"/>
              </a:ext>
            </a:extLst>
          </p:cNvPr>
          <p:cNvSpPr/>
          <p:nvPr/>
        </p:nvSpPr>
        <p:spPr>
          <a:xfrm>
            <a:off x="240348" y="164871"/>
            <a:ext cx="26911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выбором</a:t>
            </a:r>
          </a:p>
          <a:p>
            <a:endParaRPr lang="ru-RU" b="1" i="1" dirty="0">
              <a:latin typeface="Segoe UI" panose="020B0502040204020203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500FD0B-D33A-400F-B0D2-3E1F1CB13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8" y="1462400"/>
            <a:ext cx="8639175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067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9B3EAAA-180A-411E-BBC4-877F52BD0D0A}"/>
              </a:ext>
            </a:extLst>
          </p:cNvPr>
          <p:cNvSpPr/>
          <p:nvPr/>
        </p:nvSpPr>
        <p:spPr>
          <a:xfrm>
            <a:off x="2755900" y="1649402"/>
            <a:ext cx="4622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80"/>
                </a:solidFill>
                <a:latin typeface="inherit"/>
              </a:rPr>
              <a:t>for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(</a:t>
            </a:r>
            <a:r>
              <a:rPr lang="en-US" dirty="0">
                <a:solidFill>
                  <a:srgbClr val="800080"/>
                </a:solidFill>
                <a:latin typeface="inherit"/>
              </a:rPr>
              <a:t>int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en-US" dirty="0">
                <a:solidFill>
                  <a:srgbClr val="CE0000"/>
                </a:solidFill>
                <a:latin typeface="inherit"/>
              </a:rPr>
              <a:t>0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;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&lt;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N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;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++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)</a:t>
            </a:r>
            <a:r>
              <a:rPr lang="ru-RU" dirty="0">
                <a:solidFill>
                  <a:srgbClr val="333333"/>
                </a:solidFill>
                <a:latin typeface="inherit"/>
              </a:rPr>
              <a:t> 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{</a:t>
            </a:r>
            <a:endParaRPr lang="en-US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002D7A"/>
                </a:solidFill>
                <a:latin typeface="inherit"/>
              </a:rPr>
              <a:t>	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min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i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;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ru-RU" dirty="0">
                <a:solidFill>
                  <a:srgbClr val="FF8000"/>
                </a:solidFill>
                <a:latin typeface="inherit"/>
              </a:rPr>
              <a:t>				</a:t>
            </a:r>
            <a:endParaRPr lang="ru-RU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FF8000"/>
                </a:solidFill>
                <a:latin typeface="inherit"/>
              </a:rPr>
              <a:t>		</a:t>
            </a:r>
            <a:endParaRPr lang="ru-RU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800080"/>
                </a:solidFill>
                <a:latin typeface="inherit"/>
              </a:rPr>
              <a:t>	</a:t>
            </a:r>
            <a:r>
              <a:rPr lang="en-US" dirty="0">
                <a:solidFill>
                  <a:srgbClr val="800080"/>
                </a:solidFill>
                <a:latin typeface="inherit"/>
              </a:rPr>
              <a:t>for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(</a:t>
            </a:r>
            <a:r>
              <a:rPr lang="en-US" dirty="0">
                <a:solidFill>
                  <a:srgbClr val="800080"/>
                </a:solidFill>
                <a:latin typeface="inherit"/>
              </a:rPr>
              <a:t>int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j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+ </a:t>
            </a:r>
            <a:r>
              <a:rPr lang="en-US" dirty="0">
                <a:solidFill>
                  <a:srgbClr val="CE0000"/>
                </a:solidFill>
                <a:latin typeface="inherit"/>
              </a:rPr>
              <a:t>1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;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j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&lt;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N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;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j</a:t>
            </a:r>
            <a:r>
              <a:rPr lang="en-US" dirty="0" err="1">
                <a:solidFill>
                  <a:srgbClr val="006FE0"/>
                </a:solidFill>
                <a:latin typeface="inherit"/>
              </a:rPr>
              <a:t>++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)</a:t>
            </a:r>
            <a:endParaRPr lang="en-US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002D7A"/>
                </a:solidFill>
                <a:latin typeface="inherit"/>
              </a:rPr>
              <a:t>		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min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(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a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[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j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]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&lt;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a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[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min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]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)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?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j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: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min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;</a:t>
            </a:r>
            <a:endParaRPr lang="en-US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FF8000"/>
                </a:solidFill>
                <a:latin typeface="inherit"/>
              </a:rPr>
              <a:t>	</a:t>
            </a:r>
            <a:endParaRPr lang="ru-RU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800080"/>
                </a:solidFill>
                <a:latin typeface="inherit"/>
              </a:rPr>
              <a:t>	</a:t>
            </a:r>
            <a:r>
              <a:rPr lang="en-US" dirty="0">
                <a:solidFill>
                  <a:srgbClr val="800080"/>
                </a:solidFill>
                <a:latin typeface="inherit"/>
              </a:rPr>
              <a:t>if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(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i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!=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min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)</a:t>
            </a:r>
            <a:r>
              <a:rPr lang="ru-RU" dirty="0">
                <a:solidFill>
                  <a:srgbClr val="333333"/>
                </a:solidFill>
                <a:latin typeface="inherit"/>
              </a:rPr>
              <a:t> 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{</a:t>
            </a:r>
            <a:endParaRPr lang="en-US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002D7A"/>
                </a:solidFill>
                <a:latin typeface="inherit"/>
              </a:rPr>
              <a:t>		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buf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a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[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i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];</a:t>
            </a:r>
            <a:endParaRPr lang="en-US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002D7A"/>
                </a:solidFill>
                <a:latin typeface="inherit"/>
              </a:rPr>
              <a:t>		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a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[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i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]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a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[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min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];</a:t>
            </a:r>
            <a:endParaRPr lang="en-US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002D7A"/>
                </a:solidFill>
                <a:latin typeface="inherit"/>
              </a:rPr>
              <a:t>		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a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[</a:t>
            </a:r>
            <a:r>
              <a:rPr lang="en-US" dirty="0">
                <a:solidFill>
                  <a:srgbClr val="002D7A"/>
                </a:solidFill>
                <a:latin typeface="inherit"/>
              </a:rPr>
              <a:t>min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]</a:t>
            </a:r>
            <a:r>
              <a:rPr lang="en-US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en-US" dirty="0" err="1">
                <a:solidFill>
                  <a:srgbClr val="002D7A"/>
                </a:solidFill>
                <a:latin typeface="inherit"/>
              </a:rPr>
              <a:t>buf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;</a:t>
            </a:r>
            <a:endParaRPr lang="en-US" dirty="0">
              <a:solidFill>
                <a:srgbClr val="000000"/>
              </a:solidFill>
              <a:latin typeface="Monaco"/>
            </a:endParaRPr>
          </a:p>
          <a:p>
            <a:r>
              <a:rPr lang="ru-RU" dirty="0">
                <a:solidFill>
                  <a:srgbClr val="333333"/>
                </a:solidFill>
                <a:latin typeface="inherit"/>
              </a:rPr>
              <a:t>	</a:t>
            </a:r>
            <a:r>
              <a:rPr lang="en-US" dirty="0">
                <a:solidFill>
                  <a:srgbClr val="333333"/>
                </a:solidFill>
                <a:latin typeface="inherit"/>
              </a:rPr>
              <a:t>}</a:t>
            </a:r>
            <a:endParaRPr lang="en-US" dirty="0">
              <a:solidFill>
                <a:srgbClr val="000000"/>
              </a:solidFill>
              <a:latin typeface="Monaco"/>
            </a:endParaRPr>
          </a:p>
          <a:p>
            <a:r>
              <a:rPr lang="en-US" dirty="0">
                <a:solidFill>
                  <a:srgbClr val="333333"/>
                </a:solidFill>
                <a:latin typeface="inherit"/>
              </a:rPr>
              <a:t>}</a:t>
            </a:r>
            <a:endParaRPr lang="en-US" dirty="0">
              <a:solidFill>
                <a:srgbClr val="000000"/>
              </a:solidFill>
              <a:latin typeface="Monaco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6D2DEB3-765D-4987-AC03-460107645206}"/>
              </a:ext>
            </a:extLst>
          </p:cNvPr>
          <p:cNvSpPr/>
          <p:nvPr/>
        </p:nvSpPr>
        <p:spPr>
          <a:xfrm>
            <a:off x="240348" y="164871"/>
            <a:ext cx="26911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выбором</a:t>
            </a:r>
          </a:p>
          <a:p>
            <a:endParaRPr lang="ru-RU" b="1" i="1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14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A8E052-FFC9-482E-A17A-9721BE993DE2}"/>
              </a:ext>
            </a:extLst>
          </p:cNvPr>
          <p:cNvSpPr/>
          <p:nvPr/>
        </p:nvSpPr>
        <p:spPr>
          <a:xfrm>
            <a:off x="240348" y="164871"/>
            <a:ext cx="29390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вставками</a:t>
            </a:r>
          </a:p>
          <a:p>
            <a:endParaRPr lang="ru-RU" b="1" i="1" dirty="0">
              <a:latin typeface="Segoe UI" panose="020B0502040204020203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0FEC118-048B-4841-8625-87D40CD8146A}"/>
              </a:ext>
            </a:extLst>
          </p:cNvPr>
          <p:cNvSpPr/>
          <p:nvPr/>
        </p:nvSpPr>
        <p:spPr>
          <a:xfrm>
            <a:off x="272100" y="4869587"/>
            <a:ext cx="48180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33333"/>
                </a:solidFill>
                <a:latin typeface="William Text Pro"/>
              </a:rPr>
              <a:t>При сортировке вставками массив постепенно перебирается слева направо. При этом каждый последующий элемент размещается так, чтобы он оказался между ближайшими элементами с минимальным и максимальным значением.</a:t>
            </a:r>
            <a:endParaRPr lang="ru-RU" dirty="0"/>
          </a:p>
        </p:txBody>
      </p:sp>
      <p:pic>
        <p:nvPicPr>
          <p:cNvPr id="7176" name="Picture 8">
            <a:extLst>
              <a:ext uri="{FF2B5EF4-FFF2-40B4-BE49-F238E27FC236}">
                <a16:creationId xmlns:a16="http://schemas.microsoft.com/office/drawing/2014/main" id="{5A6998FD-5223-4B42-9C8E-1B14A9FA87C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2" y="627787"/>
            <a:ext cx="6489700" cy="4178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6A24065-9E26-4D6E-9177-6ABAC36E4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849" y="4326750"/>
            <a:ext cx="4383089" cy="262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30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09D3E67-7A26-471F-A3C6-51274FA688AF}"/>
              </a:ext>
            </a:extLst>
          </p:cNvPr>
          <p:cNvSpPr/>
          <p:nvPr/>
        </p:nvSpPr>
        <p:spPr>
          <a:xfrm>
            <a:off x="240348" y="164871"/>
            <a:ext cx="29390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вставками</a:t>
            </a:r>
          </a:p>
          <a:p>
            <a:endParaRPr lang="ru-RU" b="1" i="1" dirty="0">
              <a:latin typeface="Segoe UI" panose="020B0502040204020203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F220AE8-7B39-4DC2-A927-FF1BA8E81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53" y="801081"/>
            <a:ext cx="7586663" cy="589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512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87FD2A-E126-4751-90C1-26A72C714676}"/>
              </a:ext>
            </a:extLst>
          </p:cNvPr>
          <p:cNvSpPr/>
          <p:nvPr/>
        </p:nvSpPr>
        <p:spPr>
          <a:xfrm>
            <a:off x="2635250" y="2053441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 err="1">
                <a:solidFill>
                  <a:srgbClr val="800080"/>
                </a:solidFill>
                <a:latin typeface="inherit"/>
              </a:rPr>
              <a:t>for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(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i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ru-RU" sz="2000" dirty="0">
                <a:solidFill>
                  <a:srgbClr val="CE0000"/>
                </a:solidFill>
                <a:latin typeface="inherit"/>
              </a:rPr>
              <a:t>1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;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i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&lt; 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N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;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i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++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) {</a:t>
            </a:r>
            <a:endParaRPr lang="ru-RU" sz="2000" dirty="0">
              <a:solidFill>
                <a:srgbClr val="000000"/>
              </a:solidFill>
              <a:latin typeface="Monaco"/>
            </a:endParaRPr>
          </a:p>
          <a:p>
            <a:r>
              <a:rPr lang="ru-RU" sz="2000" dirty="0">
                <a:solidFill>
                  <a:srgbClr val="002D7A"/>
                </a:solidFill>
                <a:latin typeface="inherit"/>
              </a:rPr>
              <a:t>	</a:t>
            </a:r>
            <a:r>
              <a:rPr lang="ru-RU" sz="2000" dirty="0" err="1">
                <a:solidFill>
                  <a:srgbClr val="002D7A"/>
                </a:solidFill>
                <a:latin typeface="inherit"/>
              </a:rPr>
              <a:t>buff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a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[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i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];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</a:t>
            </a:r>
          </a:p>
          <a:p>
            <a:r>
              <a:rPr lang="ru-RU" sz="2000" dirty="0">
                <a:solidFill>
                  <a:srgbClr val="006FE0"/>
                </a:solidFill>
                <a:latin typeface="inherit"/>
              </a:rPr>
              <a:t>	</a:t>
            </a:r>
            <a:r>
              <a:rPr lang="ru-RU" sz="2000" dirty="0" err="1">
                <a:solidFill>
                  <a:srgbClr val="800080"/>
                </a:solidFill>
                <a:latin typeface="inherit"/>
              </a:rPr>
              <a:t>for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(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j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i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- </a:t>
            </a:r>
            <a:r>
              <a:rPr lang="ru-RU" sz="2000" dirty="0">
                <a:solidFill>
                  <a:srgbClr val="CE0000"/>
                </a:solidFill>
                <a:latin typeface="inherit"/>
              </a:rPr>
              <a:t>1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;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j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&gt;= </a:t>
            </a:r>
            <a:r>
              <a:rPr lang="ru-RU" sz="2000" dirty="0">
                <a:solidFill>
                  <a:srgbClr val="CE0000"/>
                </a:solidFill>
                <a:latin typeface="inherit"/>
              </a:rPr>
              <a:t>0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&amp;&amp; 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a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[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j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]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&gt; </a:t>
            </a:r>
            <a:r>
              <a:rPr lang="ru-RU" sz="2000" dirty="0" err="1">
                <a:solidFill>
                  <a:srgbClr val="002D7A"/>
                </a:solidFill>
                <a:latin typeface="inherit"/>
              </a:rPr>
              <a:t>buff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;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j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--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)</a:t>
            </a:r>
            <a:endParaRPr lang="ru-RU" sz="2000" dirty="0">
              <a:solidFill>
                <a:srgbClr val="000000"/>
              </a:solidFill>
              <a:latin typeface="Monaco"/>
            </a:endParaRPr>
          </a:p>
          <a:p>
            <a:r>
              <a:rPr lang="ru-RU" sz="2000" dirty="0">
                <a:solidFill>
                  <a:srgbClr val="002D7A"/>
                </a:solidFill>
                <a:latin typeface="inherit"/>
              </a:rPr>
              <a:t>		a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[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j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+ </a:t>
            </a:r>
            <a:r>
              <a:rPr lang="ru-RU" sz="2000" dirty="0">
                <a:solidFill>
                  <a:srgbClr val="CE0000"/>
                </a:solidFill>
                <a:latin typeface="inherit"/>
              </a:rPr>
              <a:t>1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]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a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[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j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];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</a:t>
            </a:r>
            <a:endParaRPr lang="ru-RU" sz="2000" dirty="0">
              <a:solidFill>
                <a:srgbClr val="000000"/>
              </a:solidFill>
              <a:latin typeface="Monaco"/>
            </a:endParaRPr>
          </a:p>
          <a:p>
            <a:r>
              <a:rPr lang="ru-RU" sz="2000" dirty="0">
                <a:solidFill>
                  <a:srgbClr val="000000"/>
                </a:solidFill>
                <a:latin typeface="Monaco"/>
              </a:rPr>
              <a:t> </a:t>
            </a:r>
          </a:p>
          <a:p>
            <a:r>
              <a:rPr lang="ru-RU" sz="2000" dirty="0">
                <a:solidFill>
                  <a:srgbClr val="002D7A"/>
                </a:solidFill>
                <a:latin typeface="inherit"/>
              </a:rPr>
              <a:t>	a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[</a:t>
            </a:r>
            <a:r>
              <a:rPr lang="ru-RU" sz="2000" dirty="0">
                <a:solidFill>
                  <a:srgbClr val="002D7A"/>
                </a:solidFill>
                <a:latin typeface="inherit"/>
              </a:rPr>
              <a:t>j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+ </a:t>
            </a:r>
            <a:r>
              <a:rPr lang="ru-RU" sz="2000" dirty="0">
                <a:solidFill>
                  <a:srgbClr val="CE0000"/>
                </a:solidFill>
                <a:latin typeface="inherit"/>
              </a:rPr>
              <a:t>1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]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= </a:t>
            </a:r>
            <a:r>
              <a:rPr lang="ru-RU" sz="2000" dirty="0" err="1">
                <a:solidFill>
                  <a:srgbClr val="002D7A"/>
                </a:solidFill>
                <a:latin typeface="inherit"/>
              </a:rPr>
              <a:t>buff</a:t>
            </a:r>
            <a:r>
              <a:rPr lang="ru-RU" sz="2000" dirty="0">
                <a:solidFill>
                  <a:srgbClr val="333333"/>
                </a:solidFill>
                <a:latin typeface="inherit"/>
              </a:rPr>
              <a:t>;</a:t>
            </a:r>
            <a:r>
              <a:rPr lang="ru-RU" sz="2000" dirty="0">
                <a:solidFill>
                  <a:srgbClr val="006FE0"/>
                </a:solidFill>
                <a:latin typeface="inherit"/>
              </a:rPr>
              <a:t> </a:t>
            </a:r>
            <a:endParaRPr lang="ru-RU" sz="2000" dirty="0">
              <a:solidFill>
                <a:srgbClr val="000000"/>
              </a:solidFill>
              <a:latin typeface="Monaco"/>
            </a:endParaRPr>
          </a:p>
          <a:p>
            <a:r>
              <a:rPr lang="ru-RU" sz="2000" dirty="0">
                <a:solidFill>
                  <a:srgbClr val="333333"/>
                </a:solidFill>
                <a:latin typeface="inherit"/>
              </a:rPr>
              <a:t>}</a:t>
            </a:r>
            <a:endParaRPr lang="ru-RU" sz="2000" b="0" i="0" dirty="0">
              <a:solidFill>
                <a:srgbClr val="000000"/>
              </a:solidFill>
              <a:effectLst/>
              <a:latin typeface="Monaco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09D3E67-7A26-471F-A3C6-51274FA688AF}"/>
              </a:ext>
            </a:extLst>
          </p:cNvPr>
          <p:cNvSpPr/>
          <p:nvPr/>
        </p:nvSpPr>
        <p:spPr>
          <a:xfrm>
            <a:off x="240348" y="164871"/>
            <a:ext cx="29390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вставками</a:t>
            </a:r>
          </a:p>
          <a:p>
            <a:endParaRPr lang="ru-RU" b="1" i="1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108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27FF81-80F9-4C63-8AC7-AA61D7AF5658}"/>
              </a:ext>
            </a:extLst>
          </p:cNvPr>
          <p:cNvSpPr/>
          <p:nvPr/>
        </p:nvSpPr>
        <p:spPr>
          <a:xfrm>
            <a:off x="240348" y="164871"/>
            <a:ext cx="27793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влиянием</a:t>
            </a:r>
          </a:p>
          <a:p>
            <a:endParaRPr lang="ru-RU" b="1" i="1" dirty="0">
              <a:latin typeface="Segoe UI" panose="020B0502040204020203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672B658-FF22-4055-A097-428A73A8D63F}"/>
              </a:ext>
            </a:extLst>
          </p:cNvPr>
          <p:cNvSpPr/>
          <p:nvPr/>
        </p:nvSpPr>
        <p:spPr>
          <a:xfrm>
            <a:off x="527050" y="811202"/>
            <a:ext cx="8172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22222"/>
                </a:solidFill>
                <a:latin typeface="Montserrat"/>
              </a:rPr>
              <a:t>Алгоритм сортировки слиянием это один из алгоритмов «разделяй и властвуй»). Другими словами, он делит исходный массив на более мелкие массивы, пока каждый маленький массив не будет содержать всего одну позицию, а затем </a:t>
            </a:r>
            <a:r>
              <a:rPr lang="ru-RU" i="1" dirty="0">
                <a:solidFill>
                  <a:srgbClr val="222222"/>
                </a:solidFill>
                <a:latin typeface="Montserrat"/>
              </a:rPr>
              <a:t>сливает</a:t>
            </a:r>
            <a:r>
              <a:rPr lang="ru-RU" dirty="0">
                <a:solidFill>
                  <a:srgbClr val="222222"/>
                </a:solidFill>
                <a:latin typeface="Montserrat"/>
              </a:rPr>
              <a:t> маленькие массивы в более крупный и отсортированный.</a:t>
            </a:r>
            <a:endParaRPr lang="ru-RU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4B426FD-A707-4B57-8860-910FAD42F33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2365762"/>
            <a:ext cx="4555480" cy="273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1F34D3E0-D5C2-4518-854D-8ED66AE02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663" y="4594225"/>
            <a:ext cx="402907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12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27FF81-80F9-4C63-8AC7-AA61D7AF5658}"/>
              </a:ext>
            </a:extLst>
          </p:cNvPr>
          <p:cNvSpPr/>
          <p:nvPr/>
        </p:nvSpPr>
        <p:spPr>
          <a:xfrm>
            <a:off x="240348" y="164871"/>
            <a:ext cx="27793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влиянием</a:t>
            </a:r>
          </a:p>
          <a:p>
            <a:endParaRPr lang="ru-RU" b="1" i="1" dirty="0">
              <a:latin typeface="Segoe UI" panose="020B0502040204020203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592F16F-499C-48E8-BF9B-57531A25D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181" y="1101778"/>
            <a:ext cx="4660580" cy="4489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461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6A3460-52C6-4DFD-96B6-D70F73DAFB66}"/>
              </a:ext>
            </a:extLst>
          </p:cNvPr>
          <p:cNvSpPr/>
          <p:nvPr/>
        </p:nvSpPr>
        <p:spPr>
          <a:xfrm>
            <a:off x="240348" y="164871"/>
            <a:ext cx="2760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слиянием</a:t>
            </a:r>
          </a:p>
          <a:p>
            <a:endParaRPr lang="ru-RU" b="1" i="1" dirty="0">
              <a:latin typeface="Segoe UI" panose="020B0502040204020203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444BA0-C408-4490-940A-8725DE764D92}"/>
              </a:ext>
            </a:extLst>
          </p:cNvPr>
          <p:cNvSpPr/>
          <p:nvPr/>
        </p:nvSpPr>
        <p:spPr>
          <a:xfrm>
            <a:off x="514350" y="591017"/>
            <a:ext cx="824865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dirty="0">
                <a:latin typeface="inherit"/>
              </a:rPr>
              <a:t>void Merge(int *A, int first, int last)</a:t>
            </a:r>
            <a:r>
              <a:rPr lang="ru-RU" sz="1600" dirty="0">
                <a:latin typeface="inherit"/>
              </a:rPr>
              <a:t> </a:t>
            </a:r>
            <a:r>
              <a:rPr lang="en-US" sz="1600" dirty="0">
                <a:latin typeface="inherit"/>
              </a:rPr>
              <a:t>{</a:t>
            </a:r>
            <a:r>
              <a:rPr lang="ru-RU" sz="1600" dirty="0">
                <a:latin typeface="inherit"/>
              </a:rPr>
              <a:t>   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функция, сливающая массивы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int middle, start, final, j;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int *mas=new int[100];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middle=(</a:t>
            </a:r>
            <a:r>
              <a:rPr lang="en-US" sz="1600" dirty="0" err="1">
                <a:latin typeface="inherit"/>
              </a:rPr>
              <a:t>first+last</a:t>
            </a:r>
            <a:r>
              <a:rPr lang="en-US" sz="1600" dirty="0">
                <a:latin typeface="inherit"/>
              </a:rPr>
              <a:t>)/2; </a:t>
            </a:r>
            <a:r>
              <a:rPr lang="ru-RU" sz="1600" dirty="0">
                <a:latin typeface="inherit"/>
              </a:rPr>
              <a:t>			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вычисление среднего элемента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start=first; </a:t>
            </a:r>
            <a:r>
              <a:rPr lang="ru-RU" sz="1600" dirty="0">
                <a:latin typeface="inherit"/>
              </a:rPr>
              <a:t>					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начало левой части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final=middle+1; </a:t>
            </a:r>
            <a:r>
              <a:rPr lang="ru-RU" sz="1600" dirty="0">
                <a:latin typeface="inherit"/>
              </a:rPr>
              <a:t>				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начало правой части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for(j=first; j&lt;=last; </a:t>
            </a:r>
            <a:r>
              <a:rPr lang="en-US" sz="1600" dirty="0" err="1">
                <a:latin typeface="inherit"/>
              </a:rPr>
              <a:t>j++</a:t>
            </a:r>
            <a:r>
              <a:rPr lang="en-US" sz="1600" dirty="0">
                <a:latin typeface="inherit"/>
              </a:rPr>
              <a:t>)</a:t>
            </a:r>
            <a:r>
              <a:rPr lang="ru-RU" sz="1600" dirty="0">
                <a:latin typeface="inherit"/>
              </a:rPr>
              <a:t>		</a:t>
            </a:r>
            <a:r>
              <a:rPr lang="en-US" sz="1600" dirty="0">
                <a:latin typeface="inherit"/>
              </a:rPr>
              <a:t> 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выполнять от начала до конца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	</a:t>
            </a:r>
            <a:r>
              <a:rPr lang="en-US" sz="1600" dirty="0">
                <a:latin typeface="inherit"/>
              </a:rPr>
              <a:t>if ((start&lt;=middle) &amp;&amp; ((final&gt;last) || (A[start]&lt;A[final])))</a:t>
            </a:r>
            <a:r>
              <a:rPr lang="ru-RU" sz="1600" dirty="0">
                <a:latin typeface="inherit"/>
              </a:rPr>
              <a:t> </a:t>
            </a:r>
            <a:r>
              <a:rPr lang="en-US" sz="1600" dirty="0">
                <a:latin typeface="inherit"/>
              </a:rPr>
              <a:t>{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		</a:t>
            </a:r>
            <a:r>
              <a:rPr lang="en-US" sz="1600" dirty="0">
                <a:latin typeface="inherit"/>
              </a:rPr>
              <a:t>mas[j]=A[start];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		</a:t>
            </a:r>
            <a:r>
              <a:rPr lang="en-US" sz="1600" dirty="0">
                <a:latin typeface="inherit"/>
              </a:rPr>
              <a:t>start++;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	</a:t>
            </a:r>
            <a:r>
              <a:rPr lang="en-US" sz="1600" dirty="0">
                <a:latin typeface="inherit"/>
              </a:rPr>
              <a:t>}</a:t>
            </a:r>
            <a:r>
              <a:rPr lang="ru-RU" sz="1600" dirty="0">
                <a:latin typeface="inherit"/>
              </a:rPr>
              <a:t> </a:t>
            </a:r>
            <a:r>
              <a:rPr lang="en-US" sz="1600" dirty="0">
                <a:latin typeface="inherit"/>
              </a:rPr>
              <a:t>else</a:t>
            </a:r>
            <a:r>
              <a:rPr lang="ru-RU" sz="1600" dirty="0">
                <a:latin typeface="inherit"/>
              </a:rPr>
              <a:t> </a:t>
            </a:r>
            <a:r>
              <a:rPr lang="en-US" sz="1600" dirty="0">
                <a:latin typeface="inherit"/>
              </a:rPr>
              <a:t>{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		</a:t>
            </a:r>
            <a:r>
              <a:rPr lang="en-US" sz="1600" dirty="0">
                <a:latin typeface="inherit"/>
              </a:rPr>
              <a:t>mas[j]=A[final];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		</a:t>
            </a:r>
            <a:r>
              <a:rPr lang="en-US" sz="1600" dirty="0">
                <a:latin typeface="inherit"/>
              </a:rPr>
              <a:t>final++;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	</a:t>
            </a:r>
            <a:r>
              <a:rPr lang="en-US" sz="1600" dirty="0">
                <a:latin typeface="inherit"/>
              </a:rPr>
              <a:t>}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for (j=first; j&lt;=last; </a:t>
            </a:r>
            <a:r>
              <a:rPr lang="en-US" sz="1600" dirty="0" err="1">
                <a:latin typeface="inherit"/>
              </a:rPr>
              <a:t>j++</a:t>
            </a:r>
            <a:r>
              <a:rPr lang="en-US" sz="1600" dirty="0">
                <a:latin typeface="inherit"/>
              </a:rPr>
              <a:t>) </a:t>
            </a:r>
            <a:r>
              <a:rPr lang="ru-RU" sz="1600" dirty="0">
                <a:latin typeface="inherit"/>
              </a:rPr>
              <a:t> </a:t>
            </a:r>
            <a:r>
              <a:rPr lang="en-US" sz="1600" dirty="0">
                <a:latin typeface="inherit"/>
              </a:rPr>
              <a:t>A[j]=mas[j];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 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 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возвращение результата в список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delete[]mas;</a:t>
            </a:r>
            <a:endParaRPr lang="en-US" sz="1600" dirty="0">
              <a:latin typeface="Monaco"/>
            </a:endParaRPr>
          </a:p>
          <a:p>
            <a:pPr fontAlgn="base"/>
            <a:r>
              <a:rPr lang="en-US" sz="1600" dirty="0">
                <a:latin typeface="inherit"/>
              </a:rPr>
              <a:t>};</a:t>
            </a:r>
            <a:endParaRPr lang="en-US" sz="1600" dirty="0">
              <a:latin typeface="Monaco"/>
            </a:endParaRPr>
          </a:p>
          <a:p>
            <a:pPr fontAlgn="base"/>
            <a:r>
              <a:rPr lang="en-US" sz="1600" dirty="0">
                <a:latin typeface="inherit"/>
              </a:rPr>
              <a:t>void </a:t>
            </a:r>
            <a:r>
              <a:rPr lang="en-US" sz="1600" dirty="0" err="1">
                <a:latin typeface="inherit"/>
              </a:rPr>
              <a:t>MergeSort</a:t>
            </a:r>
            <a:r>
              <a:rPr lang="en-US" sz="1600" dirty="0">
                <a:latin typeface="inherit"/>
              </a:rPr>
              <a:t>(int *A, int first, int last)</a:t>
            </a:r>
            <a:r>
              <a:rPr lang="ru-RU" sz="1600" dirty="0">
                <a:latin typeface="inherit"/>
              </a:rPr>
              <a:t> </a:t>
            </a:r>
            <a:r>
              <a:rPr lang="en-US" sz="1600" dirty="0">
                <a:latin typeface="inherit"/>
              </a:rPr>
              <a:t>{</a:t>
            </a:r>
            <a:r>
              <a:rPr lang="ru-RU" sz="1600" dirty="0">
                <a:latin typeface="inherit"/>
              </a:rPr>
              <a:t>  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рекурсивная процедура сортировки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if (first&lt;last)</a:t>
            </a:r>
            <a:endParaRPr lang="en-US" sz="1600" dirty="0">
              <a:latin typeface="Monaco"/>
            </a:endParaRPr>
          </a:p>
          <a:p>
            <a:pPr fontAlgn="base"/>
            <a:r>
              <a:rPr lang="en-US" sz="1600" dirty="0">
                <a:latin typeface="inherit"/>
              </a:rPr>
              <a:t>{</a:t>
            </a:r>
            <a:endParaRPr lang="en-US" sz="1600" dirty="0"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 err="1">
                <a:latin typeface="inherit"/>
              </a:rPr>
              <a:t>MergeSort</a:t>
            </a:r>
            <a:r>
              <a:rPr lang="en-US" sz="1600" dirty="0">
                <a:latin typeface="inherit"/>
              </a:rPr>
              <a:t>(A, first, (</a:t>
            </a:r>
            <a:r>
              <a:rPr lang="en-US" sz="1600" dirty="0" err="1">
                <a:latin typeface="inherit"/>
              </a:rPr>
              <a:t>first+last</a:t>
            </a:r>
            <a:r>
              <a:rPr lang="en-US" sz="1600" dirty="0">
                <a:latin typeface="inherit"/>
              </a:rPr>
              <a:t>)/2); </a:t>
            </a:r>
            <a:r>
              <a:rPr lang="ru-RU" sz="1600" dirty="0">
                <a:latin typeface="inherit"/>
              </a:rPr>
              <a:t>	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сортировка левой части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 err="1">
                <a:latin typeface="inherit"/>
              </a:rPr>
              <a:t>MergeSort</a:t>
            </a:r>
            <a:r>
              <a:rPr lang="en-US" sz="1600" dirty="0">
                <a:latin typeface="inherit"/>
              </a:rPr>
              <a:t>(A, (</a:t>
            </a:r>
            <a:r>
              <a:rPr lang="en-US" sz="1600" dirty="0" err="1">
                <a:latin typeface="inherit"/>
              </a:rPr>
              <a:t>first+last</a:t>
            </a:r>
            <a:r>
              <a:rPr lang="en-US" sz="1600" dirty="0">
                <a:latin typeface="inherit"/>
              </a:rPr>
              <a:t>)/2+1, last); </a:t>
            </a:r>
            <a:r>
              <a:rPr lang="ru-RU" sz="1600" dirty="0">
                <a:latin typeface="inherit"/>
              </a:rPr>
              <a:t>	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сортировка правой части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	</a:t>
            </a:r>
            <a:r>
              <a:rPr lang="en-US" sz="1600" dirty="0">
                <a:latin typeface="inherit"/>
              </a:rPr>
              <a:t>Merge(A, first, last); </a:t>
            </a:r>
            <a:r>
              <a:rPr lang="ru-RU" sz="1600" dirty="0">
                <a:latin typeface="inherit"/>
              </a:rPr>
              <a:t>				</a:t>
            </a:r>
            <a:r>
              <a:rPr lang="en-US" sz="1600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sz="1600" i="1" dirty="0">
                <a:solidFill>
                  <a:srgbClr val="00B050"/>
                </a:solidFill>
                <a:latin typeface="inherit"/>
              </a:rPr>
              <a:t>слияние двух частей</a:t>
            </a:r>
            <a:endParaRPr lang="ru-RU" sz="1600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sz="1600" dirty="0">
                <a:latin typeface="inherit"/>
              </a:rPr>
              <a:t>} };</a:t>
            </a:r>
            <a:endParaRPr lang="ru-RU" sz="1600" dirty="0">
              <a:latin typeface="Monaco"/>
            </a:endParaRPr>
          </a:p>
          <a:p>
            <a:pPr fontAlgn="base"/>
            <a:endParaRPr lang="en-US" sz="1600" dirty="0">
              <a:solidFill>
                <a:srgbClr val="FFFFFF"/>
              </a:solidFill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504850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EDACD1-6D2A-418A-8330-56B2008013A1}"/>
              </a:ext>
            </a:extLst>
          </p:cNvPr>
          <p:cNvSpPr/>
          <p:nvPr/>
        </p:nvSpPr>
        <p:spPr>
          <a:xfrm>
            <a:off x="240348" y="164871"/>
            <a:ext cx="2681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Быстрая сортировка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338FF23-B0F3-4F5E-8DEB-EB30709E2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275" y="4143853"/>
            <a:ext cx="394335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Быстрая сортировка">
            <a:extLst>
              <a:ext uri="{FF2B5EF4-FFF2-40B4-BE49-F238E27FC236}">
                <a16:creationId xmlns:a16="http://schemas.microsoft.com/office/drawing/2014/main" id="{E334195E-34A1-4A5D-95B9-87B87CE88D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664684"/>
            <a:ext cx="838200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F199C3-D49E-426D-9E34-B5E995DF7A9B}"/>
              </a:ext>
            </a:extLst>
          </p:cNvPr>
          <p:cNvSpPr/>
          <p:nvPr/>
        </p:nvSpPr>
        <p:spPr>
          <a:xfrm>
            <a:off x="240348" y="2889708"/>
            <a:ext cx="577310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22222"/>
                </a:solidFill>
                <a:latin typeface="Montserrat"/>
              </a:rPr>
              <a:t>Быстрая сортировка подобно алгоритму сортировки слиянием, этот алгоритм также использует подход «разделяй и властвуй».</a:t>
            </a:r>
          </a:p>
          <a:p>
            <a:r>
              <a:rPr lang="ru-RU" dirty="0">
                <a:solidFill>
                  <a:srgbClr val="222222"/>
                </a:solidFill>
                <a:latin typeface="Montserrat"/>
              </a:rPr>
              <a:t>Шаги в быстрой сортировке: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222222"/>
                </a:solidFill>
                <a:latin typeface="Montserrat"/>
              </a:rPr>
              <a:t>Выбираем значение в массиве, которое назовем </a:t>
            </a:r>
            <a:r>
              <a:rPr lang="ru-RU" b="1" dirty="0">
                <a:solidFill>
                  <a:schemeClr val="accent1"/>
                </a:solidFill>
                <a:latin typeface="Montserrat"/>
              </a:rPr>
              <a:t>опорным</a:t>
            </a:r>
            <a:r>
              <a:rPr lang="ru-RU" dirty="0">
                <a:solidFill>
                  <a:srgbClr val="222222"/>
                </a:solidFill>
                <a:latin typeface="Montserrat"/>
              </a:rPr>
              <a:t>. Обычно это значение в середине массива.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222222"/>
                </a:solidFill>
                <a:latin typeface="Montserrat"/>
              </a:rPr>
              <a:t>Осуществляем операцию распределения, в результате которой значения меньше опорного смещаются влево от опорного, а большие — вправо от него.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222222"/>
                </a:solidFill>
                <a:latin typeface="Montserrat"/>
              </a:rPr>
              <a:t>Повторяем первые два шага для каждого </a:t>
            </a:r>
            <a:r>
              <a:rPr lang="ru-RU" dirty="0" err="1">
                <a:solidFill>
                  <a:srgbClr val="222222"/>
                </a:solidFill>
                <a:latin typeface="Montserrat"/>
              </a:rPr>
              <a:t>подмассива</a:t>
            </a:r>
            <a:r>
              <a:rPr lang="ru-RU" dirty="0">
                <a:solidFill>
                  <a:srgbClr val="222222"/>
                </a:solidFill>
                <a:latin typeface="Montserrat"/>
              </a:rPr>
              <a:t> (левого и правого), пока массивы не будут полностью отсортированы.</a:t>
            </a:r>
            <a:endParaRPr lang="ru-RU" b="0" i="0" dirty="0">
              <a:solidFill>
                <a:srgbClr val="222222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8070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525810-C57A-4473-9252-E0FE79712EC3}"/>
              </a:ext>
            </a:extLst>
          </p:cNvPr>
          <p:cNvSpPr/>
          <p:nvPr/>
        </p:nvSpPr>
        <p:spPr>
          <a:xfrm>
            <a:off x="240348" y="164871"/>
            <a:ext cx="2681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Быстрая сортировка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ECCA17-65ED-4FE9-98AB-B5354444D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36" y="1004341"/>
            <a:ext cx="6824528" cy="484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248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EDACD1-6D2A-418A-8330-56B2008013A1}"/>
              </a:ext>
            </a:extLst>
          </p:cNvPr>
          <p:cNvSpPr/>
          <p:nvPr/>
        </p:nvSpPr>
        <p:spPr>
          <a:xfrm>
            <a:off x="240348" y="164871"/>
            <a:ext cx="2681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Быстрая сортировка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8B1A3E-12A0-434F-B627-EFDB67C9D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73" y="672958"/>
            <a:ext cx="6896454" cy="55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91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7EDACD1-6D2A-418A-8330-56B2008013A1}"/>
              </a:ext>
            </a:extLst>
          </p:cNvPr>
          <p:cNvSpPr/>
          <p:nvPr/>
        </p:nvSpPr>
        <p:spPr>
          <a:xfrm>
            <a:off x="240348" y="164871"/>
            <a:ext cx="2681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Быстрая сортировка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F5DC7E-327F-40BE-A23E-D25F5542B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26" y="974650"/>
            <a:ext cx="5797848" cy="29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61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68F3925-A5A0-49C9-8C3A-387E451D7AFD}"/>
              </a:ext>
            </a:extLst>
          </p:cNvPr>
          <p:cNvSpPr/>
          <p:nvPr/>
        </p:nvSpPr>
        <p:spPr>
          <a:xfrm>
            <a:off x="240348" y="164871"/>
            <a:ext cx="2681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Быстрая сортировка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E3AF10-22D6-47EF-BB7E-2C96B66BE42E}"/>
              </a:ext>
            </a:extLst>
          </p:cNvPr>
          <p:cNvSpPr/>
          <p:nvPr/>
        </p:nvSpPr>
        <p:spPr>
          <a:xfrm>
            <a:off x="584200" y="559374"/>
            <a:ext cx="8229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>
                <a:latin typeface="inherit"/>
              </a:rPr>
              <a:t>void quicksort(int *mas, int first, int last)</a:t>
            </a:r>
            <a:r>
              <a:rPr lang="ru-RU" dirty="0">
                <a:latin typeface="inherit"/>
              </a:rPr>
              <a:t> </a:t>
            </a:r>
            <a:r>
              <a:rPr lang="en-US" dirty="0">
                <a:latin typeface="inherit"/>
              </a:rPr>
              <a:t>{</a:t>
            </a:r>
            <a:r>
              <a:rPr lang="ru-RU" dirty="0">
                <a:latin typeface="inherit"/>
              </a:rPr>
              <a:t>     </a:t>
            </a:r>
            <a:r>
              <a:rPr lang="ru-RU" i="1" dirty="0">
                <a:solidFill>
                  <a:srgbClr val="00B050"/>
                </a:solidFill>
                <a:latin typeface="inherit"/>
              </a:rPr>
              <a:t>//функция сортировки</a:t>
            </a:r>
            <a:endParaRPr lang="ru-RU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</a:t>
            </a:r>
            <a:r>
              <a:rPr lang="en-US" dirty="0">
                <a:latin typeface="inherit"/>
              </a:rPr>
              <a:t>int mid, count;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</a:t>
            </a:r>
            <a:r>
              <a:rPr lang="en-US" dirty="0">
                <a:latin typeface="inherit"/>
              </a:rPr>
              <a:t>int f=first, l=last;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</a:t>
            </a:r>
            <a:r>
              <a:rPr lang="en-US" dirty="0">
                <a:latin typeface="inherit"/>
              </a:rPr>
              <a:t>mid=mas[(</a:t>
            </a:r>
            <a:r>
              <a:rPr lang="en-US" dirty="0" err="1">
                <a:latin typeface="inherit"/>
              </a:rPr>
              <a:t>f+l</a:t>
            </a:r>
            <a:r>
              <a:rPr lang="en-US" dirty="0">
                <a:latin typeface="inherit"/>
              </a:rPr>
              <a:t>) / 2]; </a:t>
            </a:r>
            <a:r>
              <a:rPr lang="ru-RU" dirty="0">
                <a:latin typeface="inherit"/>
              </a:rPr>
              <a:t>				</a:t>
            </a:r>
            <a:r>
              <a:rPr lang="en-US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i="1" dirty="0">
                <a:solidFill>
                  <a:srgbClr val="00B050"/>
                </a:solidFill>
                <a:latin typeface="inherit"/>
              </a:rPr>
              <a:t>вычисление опорного элемента</a:t>
            </a:r>
            <a:endParaRPr lang="ru-RU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</a:t>
            </a:r>
            <a:r>
              <a:rPr lang="en-US" dirty="0">
                <a:latin typeface="inherit"/>
              </a:rPr>
              <a:t>do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</a:t>
            </a:r>
            <a:r>
              <a:rPr lang="en-US" dirty="0">
                <a:latin typeface="inherit"/>
              </a:rPr>
              <a:t>{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</a:t>
            </a:r>
            <a:r>
              <a:rPr lang="en-US" dirty="0">
                <a:latin typeface="inherit"/>
              </a:rPr>
              <a:t>while (mas[f]&lt;mid) f++;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</a:t>
            </a:r>
            <a:r>
              <a:rPr lang="en-US" dirty="0">
                <a:latin typeface="inherit"/>
              </a:rPr>
              <a:t>while (mas[l]&gt;mid) l--;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	</a:t>
            </a:r>
            <a:r>
              <a:rPr lang="en-US" dirty="0">
                <a:latin typeface="inherit"/>
              </a:rPr>
              <a:t>if (f&lt;=l) </a:t>
            </a:r>
            <a:r>
              <a:rPr lang="ru-RU" dirty="0">
                <a:latin typeface="inherit"/>
              </a:rPr>
              <a:t>				</a:t>
            </a:r>
            <a:r>
              <a:rPr lang="en-US" i="1" dirty="0">
                <a:solidFill>
                  <a:srgbClr val="00B050"/>
                </a:solidFill>
                <a:latin typeface="inherit"/>
              </a:rPr>
              <a:t>//</a:t>
            </a:r>
            <a:r>
              <a:rPr lang="ru-RU" i="1" dirty="0">
                <a:solidFill>
                  <a:srgbClr val="00B050"/>
                </a:solidFill>
                <a:latin typeface="inherit"/>
              </a:rPr>
              <a:t>перестановка элементов</a:t>
            </a:r>
            <a:endParaRPr lang="ru-RU" dirty="0">
              <a:solidFill>
                <a:srgbClr val="00B050"/>
              </a:solidFill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	{</a:t>
            </a:r>
            <a:endParaRPr lang="ru-RU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		</a:t>
            </a:r>
            <a:r>
              <a:rPr lang="en-US" dirty="0">
                <a:latin typeface="inherit"/>
              </a:rPr>
              <a:t>count=mas[f];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		</a:t>
            </a:r>
            <a:r>
              <a:rPr lang="en-US" dirty="0">
                <a:latin typeface="inherit"/>
              </a:rPr>
              <a:t>mas[f]=mas[l];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		</a:t>
            </a:r>
            <a:r>
              <a:rPr lang="en-US" dirty="0">
                <a:latin typeface="inherit"/>
              </a:rPr>
              <a:t>mas[l]=count;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		</a:t>
            </a:r>
            <a:r>
              <a:rPr lang="en-US" dirty="0">
                <a:latin typeface="inherit"/>
              </a:rPr>
              <a:t>f++;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		</a:t>
            </a:r>
            <a:r>
              <a:rPr lang="en-US" dirty="0">
                <a:latin typeface="inherit"/>
              </a:rPr>
              <a:t>l--;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		</a:t>
            </a:r>
            <a:r>
              <a:rPr lang="en-US" dirty="0">
                <a:latin typeface="inherit"/>
              </a:rPr>
              <a:t>}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</a:t>
            </a:r>
            <a:r>
              <a:rPr lang="en-US" dirty="0">
                <a:latin typeface="inherit"/>
              </a:rPr>
              <a:t>} while (f&lt;l);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</a:t>
            </a:r>
            <a:r>
              <a:rPr lang="en-US" dirty="0">
                <a:latin typeface="inherit"/>
              </a:rPr>
              <a:t>if (first&lt;l) quicksort(mas, first, l);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	</a:t>
            </a:r>
            <a:r>
              <a:rPr lang="en-US" dirty="0">
                <a:latin typeface="inherit"/>
              </a:rPr>
              <a:t>if (f&lt;last) quicksort(mas, f, last);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}</a:t>
            </a:r>
            <a:endParaRPr lang="en-US" b="0" i="0" dirty="0">
              <a:effectLst/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735888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8805CB0A-05C0-4BE0-9BCE-8785F7B34E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982663"/>
            <a:ext cx="651510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5FAACE6-8D4E-44E0-AFA5-CF299F80B791}"/>
              </a:ext>
            </a:extLst>
          </p:cNvPr>
          <p:cNvSpPr/>
          <p:nvPr/>
        </p:nvSpPr>
        <p:spPr>
          <a:xfrm>
            <a:off x="240348" y="164871"/>
            <a:ext cx="2426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>
                <a:latin typeface="Segoe UI" panose="020B0502040204020203" pitchFamily="34" charset="0"/>
              </a:rPr>
              <a:t>Сортировка Шелла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ADB738-4E8D-4A14-9142-9642E53E13C6}"/>
              </a:ext>
            </a:extLst>
          </p:cNvPr>
          <p:cNvSpPr/>
          <p:nvPr/>
        </p:nvSpPr>
        <p:spPr>
          <a:xfrm>
            <a:off x="609600" y="2225358"/>
            <a:ext cx="7239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>
                <a:latin typeface="inherit"/>
              </a:rPr>
              <a:t>void Shell(int A[], int n) </a:t>
            </a:r>
            <a:r>
              <a:rPr lang="ru-RU" dirty="0">
                <a:latin typeface="inherit"/>
              </a:rPr>
              <a:t>{</a:t>
            </a:r>
            <a:r>
              <a:rPr lang="en-US" dirty="0">
                <a:latin typeface="inherit"/>
              </a:rPr>
              <a:t> 		</a:t>
            </a:r>
            <a:r>
              <a:rPr lang="en-US" i="1" dirty="0">
                <a:latin typeface="inherit"/>
              </a:rPr>
              <a:t> </a:t>
            </a:r>
            <a:endParaRPr lang="ru-RU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d=n;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d=d/2;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while (d&gt;0) {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for (</a:t>
            </a:r>
            <a:r>
              <a:rPr lang="en-US" dirty="0" err="1">
                <a:latin typeface="inherit"/>
              </a:rPr>
              <a:t>i</a:t>
            </a:r>
            <a:r>
              <a:rPr lang="en-US" dirty="0">
                <a:latin typeface="inherit"/>
              </a:rPr>
              <a:t>=0; </a:t>
            </a:r>
            <a:r>
              <a:rPr lang="en-US" dirty="0" err="1">
                <a:latin typeface="inherit"/>
              </a:rPr>
              <a:t>i</a:t>
            </a:r>
            <a:r>
              <a:rPr lang="en-US" dirty="0">
                <a:latin typeface="inherit"/>
              </a:rPr>
              <a:t>&lt;n-d; </a:t>
            </a:r>
            <a:r>
              <a:rPr lang="en-US" dirty="0" err="1">
                <a:latin typeface="inherit"/>
              </a:rPr>
              <a:t>i</a:t>
            </a:r>
            <a:r>
              <a:rPr lang="en-US" dirty="0">
                <a:latin typeface="inherit"/>
              </a:rPr>
              <a:t>++) {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	j=</a:t>
            </a:r>
            <a:r>
              <a:rPr lang="en-US" dirty="0" err="1">
                <a:latin typeface="inherit"/>
              </a:rPr>
              <a:t>i</a:t>
            </a:r>
            <a:r>
              <a:rPr lang="en-US" dirty="0">
                <a:latin typeface="inherit"/>
              </a:rPr>
              <a:t>;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	while (j&gt;=0 &amp;&amp; A[j]&gt;A[</a:t>
            </a:r>
            <a:r>
              <a:rPr lang="en-US" dirty="0" err="1">
                <a:latin typeface="inherit"/>
              </a:rPr>
              <a:t>j+d</a:t>
            </a:r>
            <a:r>
              <a:rPr lang="en-US" dirty="0">
                <a:latin typeface="inherit"/>
              </a:rPr>
              <a:t>]) {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		count=A[j];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		A[j]=A[</a:t>
            </a:r>
            <a:r>
              <a:rPr lang="en-US" dirty="0" err="1">
                <a:latin typeface="inherit"/>
              </a:rPr>
              <a:t>j+d</a:t>
            </a:r>
            <a:r>
              <a:rPr lang="en-US" dirty="0">
                <a:latin typeface="inherit"/>
              </a:rPr>
              <a:t>];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		A[</a:t>
            </a:r>
            <a:r>
              <a:rPr lang="en-US" dirty="0" err="1">
                <a:latin typeface="inherit"/>
              </a:rPr>
              <a:t>j+d</a:t>
            </a:r>
            <a:r>
              <a:rPr lang="en-US" dirty="0">
                <a:latin typeface="inherit"/>
              </a:rPr>
              <a:t>]=count;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		j--;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	}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}		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	d=d/2;</a:t>
            </a:r>
            <a:endParaRPr lang="en-US" dirty="0">
              <a:latin typeface="Monaco"/>
            </a:endParaRPr>
          </a:p>
          <a:p>
            <a:pPr fontAlgn="base"/>
            <a:r>
              <a:rPr lang="en-US" dirty="0">
                <a:latin typeface="inherit"/>
              </a:rPr>
              <a:t>	}</a:t>
            </a:r>
            <a:endParaRPr lang="en-US" dirty="0">
              <a:latin typeface="Monaco"/>
            </a:endParaRPr>
          </a:p>
          <a:p>
            <a:pPr fontAlgn="base"/>
            <a:r>
              <a:rPr lang="ru-RU" dirty="0">
                <a:latin typeface="inherit"/>
              </a:rPr>
              <a:t>}</a:t>
            </a:r>
            <a:endParaRPr lang="ru-RU" b="0" i="0" dirty="0">
              <a:effectLst/>
              <a:latin typeface="Monaco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D29D91-5A00-52B1-B614-BEAA83776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173" y="2508176"/>
            <a:ext cx="4097195" cy="265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2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A543A054-B5DD-43E3-B241-794F639CB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7267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256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7143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2248</TotalTime>
  <Words>1521</Words>
  <Application>Microsoft Macintosh PowerPoint</Application>
  <PresentationFormat>Экран (4:3)</PresentationFormat>
  <Paragraphs>169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8" baseType="lpstr">
      <vt:lpstr>Arial</vt:lpstr>
      <vt:lpstr>Calibri</vt:lpstr>
      <vt:lpstr>Calibri Light</vt:lpstr>
      <vt:lpstr>inherit</vt:lpstr>
      <vt:lpstr>Microsoft Sans Serif</vt:lpstr>
      <vt:lpstr>Monaco</vt:lpstr>
      <vt:lpstr>Montserrat</vt:lpstr>
      <vt:lpstr>Segoe UI</vt:lpstr>
      <vt:lpstr>William Text Pro</vt:lpstr>
      <vt:lpstr>Тема Office</vt:lpstr>
      <vt:lpstr>Алгоритмы и структуры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и структуры данных</dc:title>
  <dc:creator>Дмитрий Васильевич Шиман</dc:creator>
  <cp:lastModifiedBy>user</cp:lastModifiedBy>
  <cp:revision>55</cp:revision>
  <dcterms:created xsi:type="dcterms:W3CDTF">2022-02-16T17:35:29Z</dcterms:created>
  <dcterms:modified xsi:type="dcterms:W3CDTF">2026-03-18T07:55:06Z</dcterms:modified>
</cp:coreProperties>
</file>